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Yazar ve Tarih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Yazar ve Tarih</a:t>
            </a:r>
          </a:p>
        </p:txBody>
      </p:sp>
      <p:sp>
        <p:nvSpPr>
          <p:cNvPr id="12" name="Sunu Başlığı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Sunu Başlığı</a:t>
            </a:r>
          </a:p>
        </p:txBody>
      </p:sp>
      <p:sp>
        <p:nvSpPr>
          <p:cNvPr id="13" name="Gövde Düzeyi Bir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Sunu Alt Başlığı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aşlık ve Fotoğ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kadolar ve misket limonları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Sunu Başlığı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Sunu Başlığı</a:t>
            </a:r>
          </a:p>
        </p:txBody>
      </p:sp>
      <p:sp>
        <p:nvSpPr>
          <p:cNvPr id="23" name="Yazar ve Tarih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Yazar ve Tarih</a:t>
            </a:r>
          </a:p>
        </p:txBody>
      </p:sp>
      <p:sp>
        <p:nvSpPr>
          <p:cNvPr id="24" name="Gövde Düzeyi Bir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Sunu Alt Başlığı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lternatif Başlık ve Fotoğ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omon balığı çöreği, salata ve humus ile dolu kâse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ayt Başlığı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Slayt Başlığı</a:t>
            </a:r>
          </a:p>
        </p:txBody>
      </p:sp>
      <p:sp>
        <p:nvSpPr>
          <p:cNvPr id="34" name="Gövde Düzeyi Bir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Slayt Alt Başlığı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ayt Numarası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aşlık ve Madde İşaretle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ayt Başlığı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Slayt Başlığı</a:t>
            </a:r>
          </a:p>
        </p:txBody>
      </p:sp>
      <p:sp>
        <p:nvSpPr>
          <p:cNvPr id="43" name="Slayt Alt Başlığı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Slayt Alt Başlığı</a:t>
            </a:r>
          </a:p>
        </p:txBody>
      </p:sp>
      <p:sp>
        <p:nvSpPr>
          <p:cNvPr id="44" name="Gövde Düzeyi Bir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Slayt madde işareti metni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dde İşaretle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övde Düzeyi Bir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Slayt madde işareti metni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aşlık, Maddeler ve Fotoğ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ayt Alt Başlığı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Slayt Alt Başlığı</a:t>
            </a:r>
          </a:p>
        </p:txBody>
      </p:sp>
      <p:sp>
        <p:nvSpPr>
          <p:cNvPr id="61" name="Gövde Düzeyi Bir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Slayt madde işareti metni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Maydanozlu tereyağı, kavrulmuş fındık ve rendelenmiş parmesan peyniriyle bir kâse pappardelle makarna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ayt Başlığı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Slayt Başlığı</a:t>
            </a:r>
          </a:p>
        </p:txBody>
      </p:sp>
      <p:sp>
        <p:nvSpPr>
          <p:cNvPr id="64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aşlık, Maddeler ve Küçük Canlı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ayt Alt Başlığı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Slayt Alt Başlığı</a:t>
            </a:r>
          </a:p>
        </p:txBody>
      </p:sp>
      <p:sp>
        <p:nvSpPr>
          <p:cNvPr id="72" name="Gövde Düzeyi Bir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Slayt madde işareti metni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ayt Başlığı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Slayt Başlığı</a:t>
            </a:r>
          </a:p>
        </p:txBody>
      </p:sp>
      <p:sp>
        <p:nvSpPr>
          <p:cNvPr id="74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aşlık, Maddeler ve Büyük Canlı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ayt Alt Başlığı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Slayt Alt Başlığı</a:t>
            </a:r>
          </a:p>
        </p:txBody>
      </p:sp>
      <p:sp>
        <p:nvSpPr>
          <p:cNvPr id="82" name="Gövde Düzeyi Bir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Slayt madde işareti metni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ayt Başlığı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Slayt Başlığı</a:t>
            </a:r>
          </a:p>
        </p:txBody>
      </p:sp>
      <p:sp>
        <p:nvSpPr>
          <p:cNvPr id="84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ölü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Bölüm Başlığı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Bölüm Başlığı</a:t>
            </a:r>
          </a:p>
        </p:txBody>
      </p:sp>
      <p:sp>
        <p:nvSpPr>
          <p:cNvPr id="92" name="Slayt Numarası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ayt Başlığı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Slayt Başlığı</a:t>
            </a:r>
          </a:p>
        </p:txBody>
      </p:sp>
      <p:sp>
        <p:nvSpPr>
          <p:cNvPr id="100" name="Slayt Alt Başlığı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Slayt Alt Başlığı</a:t>
            </a:r>
          </a:p>
        </p:txBody>
      </p:sp>
      <p:sp>
        <p:nvSpPr>
          <p:cNvPr id="101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ja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janda Başlığı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Ajanda Başlığı</a:t>
            </a:r>
          </a:p>
        </p:txBody>
      </p:sp>
      <p:sp>
        <p:nvSpPr>
          <p:cNvPr id="109" name="Ajanda Alt Başlığı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Ajanda Alt Başlığı</a:t>
            </a:r>
          </a:p>
        </p:txBody>
      </p:sp>
      <p:sp>
        <p:nvSpPr>
          <p:cNvPr id="110" name="Gövde Düzeyi Bir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Ajanda Konuları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Rap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övde Düzeyi Bir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Rapor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üyük Ve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övde Düzeyi Bir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%100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Veri bilgisi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Veri bilgisi</a:t>
            </a:r>
          </a:p>
        </p:txBody>
      </p:sp>
      <p:sp>
        <p:nvSpPr>
          <p:cNvPr id="128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İsim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İsim</a:t>
            </a:r>
          </a:p>
        </p:txBody>
      </p:sp>
      <p:sp>
        <p:nvSpPr>
          <p:cNvPr id="136" name="Gövde Düzeyi Bir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“Ünlü Alıntı”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ğraf - 3 Yukar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Kızarmış pilav, kaynamış yumurta ve salata ile dolu kâse ve yemek çubukları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Somon balığı çöreği, salata ve humus ile dolu kâse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Maydanozlu tereyağı, kavrulmuş fındık ve rendelenmiş parmesan peyniriyle bir kâse pappardelle makarna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ğ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kızarmış pilav, kaynamış yumurta ve salata ile dolu kâse ve yemek çubukları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Başlığı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Slayt Başlığı</a:t>
            </a:r>
          </a:p>
        </p:txBody>
      </p:sp>
      <p:sp>
        <p:nvSpPr>
          <p:cNvPr id="3" name="Gövde Düzeyi Bir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Slayt madde işareti metni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ayt Numarası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istockphoto-1284831414-170667a.jpg" descr="istockphoto-1284831414-170667a.jp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5480" t="0" r="5480" b="0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172" name="Öğrenci Takip Sistemi"/>
          <p:cNvSpPr txBox="1"/>
          <p:nvPr>
            <p:ph type="title"/>
          </p:nvPr>
        </p:nvSpPr>
        <p:spPr>
          <a:xfrm>
            <a:off x="-735084" y="1842451"/>
            <a:ext cx="21971001" cy="4648201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Öğrenci Takip Sistemi</a:t>
            </a:r>
          </a:p>
        </p:txBody>
      </p:sp>
      <p:sp>
        <p:nvSpPr>
          <p:cNvPr id="173" name="Mustafa Seyyit Doğan - 2310238018"/>
          <p:cNvSpPr txBox="1"/>
          <p:nvPr>
            <p:ph type="body" idx="22"/>
          </p:nvPr>
        </p:nvSpPr>
        <p:spPr>
          <a:xfrm>
            <a:off x="2949404" y="7673257"/>
            <a:ext cx="21968622" cy="6369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Mustafa Seyyit Doğan - 2310238018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rojenin Amacı"/>
          <p:cNvSpPr txBox="1"/>
          <p:nvPr/>
        </p:nvSpPr>
        <p:spPr>
          <a:xfrm>
            <a:off x="2007261" y="1307680"/>
            <a:ext cx="10338309" cy="1849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232" sz="11600"/>
            </a:lvl1pPr>
          </a:lstStyle>
          <a:p>
            <a:pPr/>
            <a:r>
              <a:t>Projenin Amacı</a:t>
            </a:r>
          </a:p>
        </p:txBody>
      </p:sp>
      <p:sp>
        <p:nvSpPr>
          <p:cNvPr id="176" name="Öğrenci bilgilerinin kalıcı olarak yönetilebilmesini sağlamak.…"/>
          <p:cNvSpPr txBox="1"/>
          <p:nvPr/>
        </p:nvSpPr>
        <p:spPr>
          <a:xfrm>
            <a:off x="1718919" y="3674470"/>
            <a:ext cx="21748395" cy="4482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609600" indent="-609600">
              <a:buSzPct val="123000"/>
              <a:buChar char="-"/>
            </a:pPr>
            <a:r>
              <a:t>Öğrenci bilgilerinin kalıcı olarak yönetilebilmesini sağlamak.</a:t>
            </a:r>
          </a:p>
          <a:p>
            <a:pPr marL="609600" indent="-609600">
              <a:buSzPct val="123000"/>
              <a:buChar char="-"/>
            </a:pPr>
            <a:r>
              <a:t>Toplam öğrenci sayısını grafiksel arayüzle görselleştirme</a:t>
            </a:r>
          </a:p>
          <a:p>
            <a:pPr marL="609600" indent="-609600">
              <a:buSzPct val="123000"/>
              <a:buChar char="-"/>
            </a:pPr>
            <a:r>
              <a:t>Sistemdeki önemli olayları (kayıt ekleme, silme) bir log dosyasına kaydederek </a:t>
            </a:r>
          </a:p>
          <a:p>
            <a:pPr/>
            <a:r>
              <a:t>İzlenebilirliği arttırmak.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Kullanılan Teknolojiler"/>
          <p:cNvSpPr txBox="1"/>
          <p:nvPr/>
        </p:nvSpPr>
        <p:spPr>
          <a:xfrm>
            <a:off x="1350549" y="879389"/>
            <a:ext cx="14812418" cy="1849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232" sz="11600"/>
            </a:lvl1pPr>
          </a:lstStyle>
          <a:p>
            <a:pPr/>
            <a:r>
              <a:t>Kullanılan Teknolojiler</a:t>
            </a:r>
          </a:p>
        </p:txBody>
      </p:sp>
      <p:sp>
        <p:nvSpPr>
          <p:cNvPr id="179" name="Programalama Dili Ve Platform…"/>
          <p:cNvSpPr txBox="1"/>
          <p:nvPr/>
        </p:nvSpPr>
        <p:spPr>
          <a:xfrm>
            <a:off x="1664629" y="3781438"/>
            <a:ext cx="10314497" cy="6781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b="1" sz="5500"/>
            </a:pPr>
            <a:r>
              <a:t>Programalama Dili Ve Platform</a:t>
            </a:r>
          </a:p>
          <a:p>
            <a:pPr lvl="1"/>
            <a:r>
              <a:t>-C# dili ve .NET Framework</a:t>
            </a:r>
          </a:p>
          <a:p>
            <a:pPr/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5500"/>
            </a:pPr>
            <a:r>
              <a:t>Veri Tabanı</a:t>
            </a:r>
          </a:p>
          <a:p>
            <a:pPr lvl="1"/>
            <a:r>
              <a:t>-SQLite</a:t>
            </a:r>
          </a:p>
        </p:txBody>
      </p:sp>
      <p:pic>
        <p:nvPicPr>
          <p:cNvPr id="180" name="Ekran Resmi 2025-12-23 17.49.34.png" descr="Ekran Resmi 2025-12-23 17.49.3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178031" y="2205584"/>
            <a:ext cx="4118827" cy="82872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Uygulama Mimarisi ve ekranlar"/>
          <p:cNvSpPr txBox="1"/>
          <p:nvPr/>
        </p:nvSpPr>
        <p:spPr>
          <a:xfrm>
            <a:off x="1464760" y="629584"/>
            <a:ext cx="15374113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Uygulama Mimarisi ve ekranlar</a:t>
            </a:r>
          </a:p>
        </p:txBody>
      </p:sp>
      <p:sp>
        <p:nvSpPr>
          <p:cNvPr id="183" name="Uygulama Çoklu MDI ile tasarlanmıştır.…"/>
          <p:cNvSpPr txBox="1"/>
          <p:nvPr/>
        </p:nvSpPr>
        <p:spPr>
          <a:xfrm>
            <a:off x="954306" y="3249827"/>
            <a:ext cx="10838827" cy="7216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500"/>
            </a:pPr>
            <a:r>
              <a:t>Uygulama Çoklu MDI ile tasarlanmıştır.</a:t>
            </a:r>
          </a:p>
          <a:p>
            <a:pPr>
              <a:defRPr sz="3500"/>
            </a:pPr>
            <a:r>
              <a:t>-</a:t>
            </a:r>
            <a:r>
              <a:rPr b="1"/>
              <a:t>FormMain</a:t>
            </a:r>
            <a:r>
              <a:t>, tüm diğer formlar için bir ana taşıyıcı görevi görür.</a:t>
            </a:r>
          </a:p>
          <a:p>
            <a:pPr>
              <a:defRPr sz="3500"/>
            </a:pPr>
            <a:r>
              <a:t>-</a:t>
            </a:r>
            <a:r>
              <a:rPr b="1"/>
              <a:t>FormLogin</a:t>
            </a:r>
            <a:r>
              <a:t> / </a:t>
            </a:r>
            <a:r>
              <a:rPr b="1"/>
              <a:t>FormRegister</a:t>
            </a:r>
            <a:r>
              <a:t>: kullanıcı kimlik doğrulama ve yeni kullanıcı kaydı İşlemlerini yönetir.</a:t>
            </a:r>
          </a:p>
          <a:p>
            <a:pPr>
              <a:defRPr sz="3500"/>
            </a:pPr>
            <a:r>
              <a:rPr b="1"/>
              <a:t>FormStudent</a:t>
            </a:r>
            <a:r>
              <a:t> / </a:t>
            </a:r>
            <a:r>
              <a:rPr b="1"/>
              <a:t>FormChart</a:t>
            </a:r>
            <a:r>
              <a:t> : Ana form içerisinden çağrılarak öğrenci işlemleri ve grafik gösterimi gibi temel fonksiyonları barındırır.</a:t>
            </a:r>
          </a:p>
          <a:p>
            <a:pPr>
              <a:defRPr sz="3500"/>
            </a:pPr>
            <a:r>
              <a:rPr b="1"/>
              <a:t>FormLog</a:t>
            </a:r>
            <a:r>
              <a:t> : kaydedilen sistem olay günlüklerini (logları) kullanıcıya sunar.</a:t>
            </a:r>
          </a:p>
        </p:txBody>
      </p:sp>
      <p:pic>
        <p:nvPicPr>
          <p:cNvPr id="184" name="Ekran Resmi 2025-12-23 17.50.00.png" descr="Ekran Resmi 2025-12-23 17.50.0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698199" y="3060647"/>
            <a:ext cx="9443270" cy="75947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Veri Tabanı Yapısı"/>
          <p:cNvSpPr txBox="1"/>
          <p:nvPr/>
        </p:nvSpPr>
        <p:spPr>
          <a:xfrm>
            <a:off x="1350549" y="1050706"/>
            <a:ext cx="11774679" cy="1849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232" sz="11600"/>
            </a:lvl1pPr>
          </a:lstStyle>
          <a:p>
            <a:pPr/>
            <a:r>
              <a:t>Veri Tabanı Yapısı</a:t>
            </a:r>
          </a:p>
        </p:txBody>
      </p:sp>
      <p:sp>
        <p:nvSpPr>
          <p:cNvPr id="187" name="StudentDb.db isimli bir SQLite veritabanı dosyası kullanılmaktadır.…"/>
          <p:cNvSpPr txBox="1"/>
          <p:nvPr/>
        </p:nvSpPr>
        <p:spPr>
          <a:xfrm>
            <a:off x="979364" y="3922633"/>
            <a:ext cx="11171737" cy="5870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StudentDb.db isimli bir SQLite veritabanı dosyası kullanılmaktadır.</a:t>
            </a:r>
          </a:p>
          <a:p>
            <a:pPr/>
          </a:p>
          <a:p>
            <a:pPr/>
            <a:r>
              <a:t>Uygulama ilk çalıştığında Program.cs içerisinde CreateTables metodu tabloların varlığını kontrol eder eğer yoksa otomatik oluşturur.</a:t>
            </a:r>
          </a:p>
        </p:txBody>
      </p:sp>
      <p:pic>
        <p:nvPicPr>
          <p:cNvPr id="188" name="Ekran Resmi 2025-12-23 17.50.26.png" descr="Ekran Resmi 2025-12-23 17.50.2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624520" y="4154795"/>
            <a:ext cx="8518586" cy="54064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Kimlik Doğrulama: Login ve Register Yapısı"/>
          <p:cNvSpPr txBox="1"/>
          <p:nvPr/>
        </p:nvSpPr>
        <p:spPr>
          <a:xfrm>
            <a:off x="1007917" y="1152158"/>
            <a:ext cx="20079717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59" sz="8000"/>
            </a:lvl1pPr>
          </a:lstStyle>
          <a:p>
            <a:pPr/>
            <a:r>
              <a:t>Kimlik Doğrulama: Login ve Register Yapısı</a:t>
            </a:r>
          </a:p>
        </p:txBody>
      </p:sp>
      <p:sp>
        <p:nvSpPr>
          <p:cNvPr id="191" name="Register : INSERT sorgusu ile Users tablosuna yeni kullanıcı eklenir. Kayıt öncesi kullanıcı adının mevcut olup olmadığı kontrol edilir…"/>
          <p:cNvSpPr txBox="1"/>
          <p:nvPr/>
        </p:nvSpPr>
        <p:spPr>
          <a:xfrm>
            <a:off x="1317676" y="2774950"/>
            <a:ext cx="11848899" cy="8166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500"/>
            </a:pPr>
            <a:r>
              <a:t>Register : INSERT sorgusu ile Users tablosuna yeni kullanıcı eklenir. Kayıt öncesi kullanıcı adının mevcut olup olmadığı kontrol edilir</a:t>
            </a:r>
          </a:p>
          <a:p>
            <a:pPr>
              <a:defRPr sz="3500"/>
            </a:pPr>
          </a:p>
          <a:p>
            <a:pPr>
              <a:defRPr sz="3500"/>
            </a:pPr>
            <a:r>
              <a:t>Login: kullanıcının girdiği bilgiler, Users tablosunda toğrulanır.</a:t>
            </a:r>
          </a:p>
          <a:p>
            <a:pPr>
              <a:defRPr sz="3500"/>
            </a:pPr>
          </a:p>
          <a:p>
            <a:pPr>
              <a:defRPr sz="3500"/>
            </a:pPr>
            <a:r>
              <a:t>-Başarılı girişte FormLogin gizlenir ve ana form olan FormMain gösterilir.</a:t>
            </a:r>
          </a:p>
          <a:p>
            <a:pPr>
              <a:defRPr sz="3500"/>
            </a:pPr>
            <a:r>
              <a:t>Başarısız denelerde kullanıcıya MessageBox ile geri bildirim yapılır.</a:t>
            </a:r>
          </a:p>
        </p:txBody>
      </p:sp>
      <p:pic>
        <p:nvPicPr>
          <p:cNvPr id="192" name="Ekran Resmi 2025-12-23 17.50.44.png" descr="Ekran Resmi 2025-12-23 17.50.4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473932" y="2905627"/>
            <a:ext cx="7192206" cy="79047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Öğrenci Yönetimi"/>
          <p:cNvSpPr txBox="1"/>
          <p:nvPr/>
        </p:nvSpPr>
        <p:spPr>
          <a:xfrm>
            <a:off x="779496" y="393994"/>
            <a:ext cx="11805616" cy="1849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232" sz="11600"/>
            </a:lvl1pPr>
          </a:lstStyle>
          <a:p>
            <a:pPr/>
            <a:r>
              <a:t>Öğrenci Yönetimi</a:t>
            </a:r>
          </a:p>
        </p:txBody>
      </p:sp>
      <p:sp>
        <p:nvSpPr>
          <p:cNvPr id="195" name="Listeleme : FormStudent yüklendiğinde öğrenci verilerinin çekerek DataGridBiew kontrolünü doldurur.…"/>
          <p:cNvSpPr txBox="1"/>
          <p:nvPr/>
        </p:nvSpPr>
        <p:spPr>
          <a:xfrm>
            <a:off x="1183269" y="3295637"/>
            <a:ext cx="10998070" cy="7124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500"/>
            </a:pPr>
            <a:r>
              <a:t>Listeleme : FormStudent yüklendiğinde öğrenci verilerinin çekerek DataGridBiew kontrolünü doldurur.</a:t>
            </a:r>
          </a:p>
          <a:p>
            <a:pPr>
              <a:defRPr sz="3500"/>
            </a:pPr>
          </a:p>
          <a:p>
            <a:pPr>
              <a:defRPr sz="3500"/>
            </a:pPr>
            <a:r>
              <a:t>Ekleme : Formdan alınan veriler, parametreli INSERT sorgusu kullanılarak veritabanına güvenli bir şekilde eklenir.</a:t>
            </a:r>
          </a:p>
          <a:p>
            <a:pPr>
              <a:defRPr sz="3500"/>
            </a:pPr>
          </a:p>
          <a:p>
            <a:pPr>
              <a:defRPr sz="3500"/>
            </a:pPr>
            <a:r>
              <a:t>Silme : DataGridView üzerinden seçilen öğrenicin id değeri alınarak , ilgili kayıt DELETE sorgusu ile veritabanından kaldırılır.</a:t>
            </a:r>
          </a:p>
        </p:txBody>
      </p:sp>
      <p:pic>
        <p:nvPicPr>
          <p:cNvPr id="196" name="WhatsApp Image 2025-12-23 at 17.53.15.jpeg" descr="WhatsApp Image 2025-12-23 at 17.53.15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867791" y="2453966"/>
            <a:ext cx="10425430" cy="8808068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Çizgi"/>
          <p:cNvSpPr/>
          <p:nvPr/>
        </p:nvSpPr>
        <p:spPr>
          <a:xfrm>
            <a:off x="11357131" y="7293131"/>
            <a:ext cx="4062142" cy="1117831"/>
          </a:xfrm>
          <a:prstGeom prst="line">
            <a:avLst/>
          </a:prstGeom>
          <a:ln w="889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8" name="Çizgi"/>
          <p:cNvSpPr/>
          <p:nvPr/>
        </p:nvSpPr>
        <p:spPr>
          <a:xfrm flipV="1">
            <a:off x="11530706" y="9050698"/>
            <a:ext cx="6644153" cy="1719524"/>
          </a:xfrm>
          <a:prstGeom prst="line">
            <a:avLst/>
          </a:prstGeom>
          <a:ln w="889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rafik Kullanımı ile Veri Görselleştirme:"/>
          <p:cNvSpPr txBox="1"/>
          <p:nvPr/>
        </p:nvSpPr>
        <p:spPr>
          <a:xfrm>
            <a:off x="1122128" y="772347"/>
            <a:ext cx="19306731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Grafik Kullanımı ile Veri Görselleştirme:</a:t>
            </a:r>
          </a:p>
        </p:txBody>
      </p:sp>
      <p:sp>
        <p:nvSpPr>
          <p:cNvPr id="201" name="Uygulama, verilerin özetinin sunmak için Chart yapısını kullanır…"/>
          <p:cNvSpPr txBox="1"/>
          <p:nvPr/>
        </p:nvSpPr>
        <p:spPr>
          <a:xfrm>
            <a:off x="1799697" y="3816324"/>
            <a:ext cx="9212361" cy="6083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500"/>
            </a:pPr>
            <a:r>
              <a:t>Uygulama, verilerin özetinin sunmak için Chart yapısını kullanır</a:t>
            </a:r>
          </a:p>
          <a:p>
            <a:pPr>
              <a:defRPr sz="3500"/>
            </a:pPr>
            <a:r>
              <a:t>Grafik formu, Students tablosundaki toplam kayıt sayısını alır.</a:t>
            </a:r>
          </a:p>
          <a:p>
            <a:pPr>
              <a:defRPr sz="3500"/>
            </a:pPr>
            <a:r>
              <a:t>ExecuteScalar() metodundan dönen değer, “Toplam Öğrenci” başlığı altında bir sütün grafiği olarak dinamik bir şekilde çizdirilir.</a:t>
            </a:r>
          </a:p>
          <a:p>
            <a:pPr>
              <a:defRPr sz="3500"/>
            </a:pPr>
            <a:r>
              <a:t>Bu özellik, sistemdeki verilerin anlık özetini sunarak tek bakışta bilgi edinmeyi sağlar.</a:t>
            </a:r>
          </a:p>
        </p:txBody>
      </p:sp>
      <p:pic>
        <p:nvPicPr>
          <p:cNvPr id="202" name="Ekran Resmi 2025-12-23 18.01.25.png" descr="Ekran Resmi 2025-12-23 18.01.2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212874" y="2517735"/>
            <a:ext cx="8236638" cy="86805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Denetim Mekanizması:"/>
          <p:cNvSpPr txBox="1"/>
          <p:nvPr/>
        </p:nvSpPr>
        <p:spPr>
          <a:xfrm>
            <a:off x="836601" y="451099"/>
            <a:ext cx="15476831" cy="1849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232" sz="11600"/>
            </a:lvl1pPr>
          </a:lstStyle>
          <a:p>
            <a:pPr/>
            <a:r>
              <a:t>Denetim Mekanizması:</a:t>
            </a:r>
          </a:p>
        </p:txBody>
      </p:sp>
      <p:sp>
        <p:nvSpPr>
          <p:cNvPr id="205" name="Yeni kullanıcı kaydı, öğrenci ekleme veya silme gibi olaylar, zaman damgasıyla birlikte dosyaya eklenir."/>
          <p:cNvSpPr txBox="1"/>
          <p:nvPr/>
        </p:nvSpPr>
        <p:spPr>
          <a:xfrm>
            <a:off x="1464760" y="2970954"/>
            <a:ext cx="7514009" cy="1549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500"/>
            </a:lvl1pPr>
          </a:lstStyle>
          <a:p>
            <a:pPr/>
            <a:r>
              <a:t>Yeni kullanıcı kaydı, öğrenci ekleme veya silme gibi olaylar, zaman damgasıyla birlikte dosyaya eklenir.</a:t>
            </a:r>
          </a:p>
        </p:txBody>
      </p:sp>
      <p:sp>
        <p:nvSpPr>
          <p:cNvPr id="206" name="LogForm açıldığında log.txt dosyasının tüm içeriği okunur ve bir TTextBox içerisinde kullanıcıya gösterilir."/>
          <p:cNvSpPr txBox="1"/>
          <p:nvPr/>
        </p:nvSpPr>
        <p:spPr>
          <a:xfrm>
            <a:off x="11386263" y="3205892"/>
            <a:ext cx="10798720" cy="1079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500"/>
            </a:lvl1pPr>
          </a:lstStyle>
          <a:p>
            <a:pPr/>
            <a:r>
              <a:t>LogForm açıldığında log.txt dosyasının tüm içeriği okunur ve bir TTextBox içerisinde kullanıcıya gösterilir.</a:t>
            </a:r>
          </a:p>
        </p:txBody>
      </p:sp>
      <p:pic>
        <p:nvPicPr>
          <p:cNvPr id="207" name="Ekran Resmi 2025-12-23 17.56.21.png" descr="Ekran Resmi 2025-12-23 17.56.2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46096" y="6127541"/>
            <a:ext cx="15691808" cy="45697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Event Kullanımı"/>
          <p:cNvSpPr txBox="1"/>
          <p:nvPr/>
        </p:nvSpPr>
        <p:spPr>
          <a:xfrm>
            <a:off x="1407655" y="793731"/>
            <a:ext cx="10551923" cy="1849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232" sz="11600"/>
            </a:lvl1pPr>
          </a:lstStyle>
          <a:p>
            <a:pPr/>
            <a:r>
              <a:t>Event Kullanımı</a:t>
            </a:r>
          </a:p>
        </p:txBody>
      </p:sp>
      <p:sp>
        <p:nvSpPr>
          <p:cNvPr id="210" name="FormStudent içerisinde StudentAdded adında bir event tanımlanmıştır. Bir öğrenci başarıyla eklendiğinde bu olay Invoke metodu ile tetiklenir"/>
          <p:cNvSpPr txBox="1"/>
          <p:nvPr/>
        </p:nvSpPr>
        <p:spPr>
          <a:xfrm>
            <a:off x="1493313" y="3250344"/>
            <a:ext cx="8175645" cy="4074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FormStudent içerisinde StudentAdded adında bir event tanımlanmıştır. Bir öğrenci başarıyla eklendiğinde bu olay Invoke metodu ile tetiklenir</a:t>
            </a:r>
          </a:p>
        </p:txBody>
      </p:sp>
      <p:sp>
        <p:nvSpPr>
          <p:cNvPr id="211" name="Bu eventi dinleyen FormStudent_StudentAdded metodu, öğrenci ekleme işlemi tamamlandığında otomatik olarak çalışır."/>
          <p:cNvSpPr txBox="1"/>
          <p:nvPr/>
        </p:nvSpPr>
        <p:spPr>
          <a:xfrm>
            <a:off x="1122623" y="8563559"/>
            <a:ext cx="8917025" cy="342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Bu eventi dinleyen FormStudent_StudentAdded metodu, öğrenci ekleme işlemi tamamlandığında otomatik olarak çalışır.</a:t>
            </a:r>
          </a:p>
        </p:txBody>
      </p:sp>
      <p:pic>
        <p:nvPicPr>
          <p:cNvPr id="212" name="Ekran Resmi 2025-12-23 17.56.47.png" descr="Ekran Resmi 2025-12-23 17.56.4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604373" y="4642096"/>
            <a:ext cx="10551923" cy="44318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